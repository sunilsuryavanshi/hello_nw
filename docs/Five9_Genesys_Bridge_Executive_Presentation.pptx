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Five9 IVR + Genesys Agent Bridge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4A90D9"/>
                </a:solidFill>
              </a:defRPr>
            </a:pPr>
            <a:r>
              <a:t>Voice &amp; Data Bridge Architecture for CCaaS Migration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5720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ABBCC"/>
                </a:solidFill>
              </a:defRPr>
            </a:pPr>
            <a:r>
              <a:t>Executive Presentation | Migration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0" y="5303520"/>
            <a:ext cx="1645920" cy="548640"/>
          </a:xfrm>
          <a:prstGeom prst="round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Five9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60720" y="534924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+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92240" y="5303520"/>
            <a:ext cx="1645920" cy="548640"/>
          </a:xfrm>
          <a:prstGeom prst="round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Genesys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2A4A"/>
                </a:solidFill>
              </a:defRPr>
            </a:pPr>
            <a:r>
              <a:t>Agenda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10972800" cy="381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457200" cy="411480"/>
          </a:xfrm>
          <a:prstGeom prst="round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28016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A4A4A"/>
                </a:solidFill>
              </a:defRPr>
            </a:pPr>
            <a:r>
              <a:t>Executive Summary &amp; Business Context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457200" cy="411480"/>
          </a:xfrm>
          <a:prstGeom prst="round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82880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A4A4A"/>
                </a:solidFill>
              </a:defRPr>
            </a:pPr>
            <a:r>
              <a:t>Solution Architecture Overview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377439"/>
            <a:ext cx="457200" cy="411480"/>
          </a:xfrm>
          <a:prstGeom prst="round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377439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A4A4A"/>
                </a:solidFill>
              </a:defRPr>
            </a:pPr>
            <a:r>
              <a:t>End-to-End Call Flow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926079"/>
            <a:ext cx="457200" cy="411480"/>
          </a:xfrm>
          <a:prstGeom prst="round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926079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A4A4A"/>
                </a:solidFill>
              </a:defRPr>
            </a:pPr>
            <a:r>
              <a:t>Component Architecture (Five9 / SBC / Genesys / GCP)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474720"/>
            <a:ext cx="457200" cy="411480"/>
          </a:xfrm>
          <a:prstGeom prst="round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47472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A4A4A"/>
                </a:solidFill>
              </a:defRPr>
            </a:pPr>
            <a:r>
              <a:t>Data Conservation &amp; Unified Correlation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023360"/>
            <a:ext cx="457200" cy="411480"/>
          </a:xfrm>
          <a:prstGeom prst="round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402336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A4A4A"/>
                </a:solidFill>
              </a:defRPr>
            </a:pPr>
            <a:r>
              <a:t>Failover &amp; Resilience Strategy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572000"/>
            <a:ext cx="457200" cy="411480"/>
          </a:xfrm>
          <a:prstGeom prst="round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457200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A4A4A"/>
                </a:solidFill>
              </a:defRPr>
            </a:pPr>
            <a:r>
              <a:t>Monitoring &amp; Observability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5120640"/>
            <a:ext cx="457200" cy="411480"/>
          </a:xfrm>
          <a:prstGeom prst="round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512064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A4A4A"/>
                </a:solidFill>
              </a:defRPr>
            </a:pPr>
            <a:r>
              <a:t>Deployment Approach &amp; Timeline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5669279"/>
            <a:ext cx="457200" cy="411480"/>
          </a:xfrm>
          <a:prstGeom prst="round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5669279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A4A4A"/>
                </a:solidFill>
              </a:defRPr>
            </a:pPr>
            <a:r>
              <a:t>Risks &amp; Mitigations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2A4A"/>
                </a:solidFill>
              </a:defRPr>
            </a:pPr>
            <a:r>
              <a:t>Executive Summary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10972800" cy="381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C5F8A"/>
                </a:solidFill>
              </a:defRPr>
            </a:pPr>
            <a:r>
              <a:t>The Challenge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4A4A"/>
                </a:solidFill>
              </a:defRPr>
            </a:pPr>
            <a:r>
              <a:t>Migrate from on-premises Genesys Engage to Five9 CCaaS while maintaining uninterrupted service. During migration, Five9 handles IVR while all agents remain on Genesys. Call context must be preserved across both platforms.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200400"/>
            <a:ext cx="5303520" cy="2926080"/>
          </a:xfrm>
          <a:prstGeom prst="roundRect">
            <a:avLst/>
          </a:prstGeom>
          <a:solidFill>
            <a:srgbClr val="F0F2F5"/>
          </a:solidFill>
          <a:ln w="19050"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32918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C5F8A"/>
                </a:solidFill>
              </a:defRPr>
            </a:pPr>
            <a:r>
              <a:t>The Solution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749039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4A4A"/>
                </a:solidFill>
              </a:defRPr>
            </a:pPr>
            <a:r>
              <a:t>  Five9 IVR handles all inbound calls (menu routing)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16052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4A4A"/>
                </a:solidFill>
              </a:defRPr>
            </a:pPr>
            <a:r>
              <a:t>  Oracle SBC bridges SIP between Five9 and Genesys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57200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4A4A"/>
                </a:solidFill>
              </a:defRPr>
            </a:pPr>
            <a:r>
              <a:t>  GCP Cloud Run middleware preserves call context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983479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4A4A"/>
                </a:solidFill>
              </a:defRPr>
            </a:pPr>
            <a:r>
              <a:t>  Genesys agents receive calls with full IVR 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394959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4A4A"/>
                </a:solidFill>
              </a:defRPr>
            </a:pPr>
            <a:r>
              <a:t>  Unified correlation ID tracks calls across platforms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80644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4A4A"/>
                </a:solidFill>
              </a:defRPr>
            </a:pPr>
            <a:r>
              <a:t>  Bidirectional transfer support (Five9 &lt;-&gt; Genesys)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188720"/>
            <a:ext cx="5303520" cy="493776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2801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Key Parameters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18288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4A90D9"/>
                </a:solidFill>
              </a:defRPr>
            </a:pPr>
            <a:r>
              <a:t>Volume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5360" y="18288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10,000 calls/day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22860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4A90D9"/>
                </a:solidFill>
              </a:defRPr>
            </a:pPr>
            <a:r>
              <a:t>Architecture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95360" y="22860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Temporary (migration)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27432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4A90D9"/>
                </a:solidFill>
              </a:defRPr>
            </a:pPr>
            <a:r>
              <a:t>Five9 Role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95360" y="27432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IVR front-end only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32004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4A90D9"/>
                </a:solidFill>
              </a:defRPr>
            </a:pPr>
            <a:r>
              <a:t>Genesys Role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95360" y="32004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All agent interactions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36576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4A90D9"/>
                </a:solidFill>
              </a:defRPr>
            </a:pPr>
            <a:r>
              <a:t>SBC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95360" y="36576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Oracle/Acme Packet (Dual HA)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0" y="41148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4A90D9"/>
                </a:solidFill>
              </a:defRPr>
            </a:pPr>
            <a:r>
              <a:t>Media Path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95360" y="41148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Five9 stays in path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45720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4A90D9"/>
                </a:solidFill>
              </a:defRPr>
            </a:pPr>
            <a:r>
              <a:t>ANI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95360" y="45720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Original caller preserved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0" y="50292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4A90D9"/>
                </a:solidFill>
              </a:defRPr>
            </a:pPr>
            <a:r>
              <a:t>Failover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95360" y="50292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Callback / queue on Five9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0" y="54864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4A90D9"/>
                </a:solidFill>
              </a:defRPr>
            </a:pPr>
            <a:r>
              <a:t>Data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95360" y="54864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Full bidirectional context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0" y="59436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4A90D9"/>
                </a:solidFill>
              </a:defRPr>
            </a:pPr>
            <a:r>
              <a:t>Reporting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95360" y="59436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Unified via BigQuery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2A4A"/>
                </a:solidFill>
              </a:defRPr>
            </a:pPr>
            <a:r>
              <a:t>Solution Architecture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10972800" cy="381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74320" y="2926080"/>
            <a:ext cx="1097280" cy="731520"/>
          </a:xfrm>
          <a:prstGeom prst="roundRect">
            <a:avLst/>
          </a:prstGeom>
          <a:solidFill>
            <a:srgbClr val="4A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Caller</a:t>
            </a:r>
            <a:br/>
            <a:r>
              <a:t>(PSTN)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0632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A4A4A"/>
                </a:solidFill>
              </a:defRPr>
            </a:pPr>
            <a:r>
              <a:t>--&gt;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828800" y="2286000"/>
            <a:ext cx="1645920" cy="1828800"/>
          </a:xfrm>
          <a:prstGeom prst="round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Oracle SBC</a:t>
            </a:r>
            <a:br/>
            <a:r>
              <a:t>(Dual HA)</a:t>
            </a:r>
            <a:br/>
            <a:br/>
            <a:r>
              <a:t>HMR</a:t>
            </a:r>
            <a:br/>
            <a:r>
              <a:t>Routing</a:t>
            </a:r>
            <a:br/>
            <a:r>
              <a:t>Media</a:t>
            </a:r>
            <a:br/>
            <a:r>
              <a:t>Anchor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20440" y="24688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6C00"/>
                </a:solidFill>
              </a:defRPr>
            </a:pPr>
            <a:r>
              <a:t>--&gt;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931920" y="1371600"/>
            <a:ext cx="2286000" cy="1828800"/>
          </a:xfrm>
          <a:prstGeom prst="round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Five9 Cloud</a:t>
            </a:r>
            <a:br/>
            <a:br/>
            <a:r>
              <a:t>IVR Menu</a:t>
            </a:r>
            <a:br/>
            <a:r>
              <a:t>Routing</a:t>
            </a:r>
            <a:br/>
            <a:r>
              <a:t>Self-Service</a:t>
            </a:r>
            <a:br/>
            <a:r>
              <a:t>Recording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20440" y="365760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8A745"/>
                </a:solidFill>
              </a:defRPr>
            </a:pPr>
            <a:r>
              <a:t>&lt;--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20440" y="457200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8A745"/>
                </a:solidFill>
              </a:defRPr>
            </a:pPr>
            <a:r>
              <a:t>--&gt;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931920" y="3840480"/>
            <a:ext cx="2286000" cy="2286000"/>
          </a:xfrm>
          <a:prstGeom prst="round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Genesys Engage</a:t>
            </a:r>
            <a:br/>
            <a:r>
              <a:t>(On-Prem)</a:t>
            </a:r>
            <a:br/>
            <a:br/>
            <a:r>
              <a:t>SIP Server (HA)</a:t>
            </a:r>
            <a:br/>
            <a:r>
              <a:t>ORS/URS</a:t>
            </a:r>
            <a:br/>
            <a:r>
              <a:t>Agent Groups</a:t>
            </a:r>
            <a:br/>
            <a:r>
              <a:t>Skills Routing</a:t>
            </a:r>
            <a:br/>
            <a:r>
              <a:t>Workspace Desktop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0" y="1828800"/>
            <a:ext cx="2286000" cy="1645920"/>
          </a:xfrm>
          <a:prstGeom prst="round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GCP Cloud Run</a:t>
            </a:r>
            <a:br/>
            <a:r>
              <a:t>Middleware</a:t>
            </a:r>
            <a:br/>
            <a:br/>
            <a:r>
              <a:t>Context Store</a:t>
            </a:r>
            <a:br/>
            <a:r>
              <a:t>CRM Enrichment</a:t>
            </a:r>
            <a:br/>
            <a:r>
              <a:t>Correlation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0" y="4114800"/>
            <a:ext cx="2286000" cy="1371600"/>
          </a:xfrm>
          <a:prstGeom prst="round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GCP Analytics</a:t>
            </a:r>
            <a:br/>
            <a:br/>
            <a:r>
              <a:t>Firestore</a:t>
            </a:r>
            <a:br/>
            <a:r>
              <a:t>Pub/Sub</a:t>
            </a:r>
            <a:br/>
            <a:r>
              <a:t>BigQuery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228600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285F4"/>
                </a:solidFill>
              </a:defRPr>
            </a:pPr>
            <a:r>
              <a:t>--&gt;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438912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4A853"/>
                </a:solidFill>
              </a:defRPr>
            </a:pPr>
            <a:r>
              <a:t>--&gt;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0" y="13716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4A4A4A"/>
                </a:solidFill>
              </a:defRPr>
            </a:pPr>
            <a:r>
              <a:t>Legend: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01200" y="1828800"/>
            <a:ext cx="274320" cy="274320"/>
          </a:xfrm>
          <a:prstGeom prst="round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966960" y="18288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4A4A"/>
                </a:solidFill>
              </a:defRPr>
            </a:pPr>
            <a:r>
              <a:t>Five9 (IVR)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601200" y="2194560"/>
            <a:ext cx="274320" cy="274320"/>
          </a:xfrm>
          <a:prstGeom prst="round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966960" y="21945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4A4A"/>
                </a:solidFill>
              </a:defRPr>
            </a:pPr>
            <a:r>
              <a:t>Genesys (Agents)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01200" y="2560320"/>
            <a:ext cx="274320" cy="274320"/>
          </a:xfrm>
          <a:prstGeom prst="round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966960" y="25603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4A4A"/>
                </a:solidFill>
              </a:defRPr>
            </a:pPr>
            <a:r>
              <a:t>Oracle SBC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601200" y="2926080"/>
            <a:ext cx="274320" cy="274320"/>
          </a:xfrm>
          <a:prstGeom prst="round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966960" y="29260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4A4A"/>
                </a:solidFill>
              </a:defRPr>
            </a:pPr>
            <a:r>
              <a:t>GCP Services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326880" y="4114800"/>
            <a:ext cx="2560320" cy="2011680"/>
          </a:xfrm>
          <a:prstGeom prst="roundRect">
            <a:avLst/>
          </a:prstGeom>
          <a:solidFill>
            <a:srgbClr val="F0F2F5"/>
          </a:solidFill>
          <a:ln w="19050">
            <a:solidFill>
              <a:srgbClr val="E86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509760" y="42062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86C00"/>
                </a:solidFill>
              </a:defRPr>
            </a:pPr>
            <a:r>
              <a:t>Key Design Decisions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09760" y="457200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A4A4A"/>
                </a:solidFill>
              </a:defRPr>
            </a:pPr>
            <a:r>
              <a:t>* Five9 stays in media path</a:t>
            </a:r>
            <a:br/>
            <a:r>
              <a:t>* SBC anchors all RTP</a:t>
            </a:r>
            <a:br/>
            <a:r>
              <a:t>* ANI preserved end-to-end</a:t>
            </a:r>
            <a:br/>
            <a:r>
              <a:t>* Graceful failover to Five9</a:t>
            </a:r>
            <a:br/>
            <a:r>
              <a:t>* Unified correlation ID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2A4A"/>
                </a:solidFill>
              </a:defRPr>
            </a:pPr>
            <a:r>
              <a:t>End-to-End Call 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10972800" cy="381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74320" y="1645920"/>
            <a:ext cx="1280160" cy="1097280"/>
          </a:xfrm>
          <a:prstGeom prst="roundRect">
            <a:avLst/>
          </a:prstGeom>
          <a:solidFill>
            <a:srgbClr val="4A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1</a:t>
            </a:r>
            <a:br/>
            <a:r>
              <a:t>Caller dials</a:t>
            </a:r>
            <a:br/>
            <a:r>
              <a:t>(PSTN)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201168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A4A4A"/>
                </a:solidFill>
              </a:defRPr>
            </a:pPr>
            <a:r>
              <a:t>-&gt;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737360" y="1645920"/>
            <a:ext cx="1280160" cy="1097280"/>
          </a:xfrm>
          <a:prstGeom prst="round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2</a:t>
            </a:r>
            <a:br/>
            <a:r>
              <a:t>SBC routes</a:t>
            </a:r>
            <a:br/>
            <a:r>
              <a:t>to Five9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80360" y="201168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A4A4A"/>
                </a:solidFill>
              </a:defRPr>
            </a:pPr>
            <a:r>
              <a:t>-&gt;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0400" y="1645920"/>
            <a:ext cx="1280160" cy="1097280"/>
          </a:xfrm>
          <a:prstGeom prst="round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3</a:t>
            </a:r>
            <a:br/>
            <a:r>
              <a:t>Five9 IVR</a:t>
            </a:r>
            <a:br/>
            <a:r>
              <a:t>(Menu)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43400" y="201168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A4A4A"/>
                </a:solidFill>
              </a:defRPr>
            </a:pPr>
            <a:r>
              <a:t>-&gt;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63440" y="1645920"/>
            <a:ext cx="1280160" cy="1097280"/>
          </a:xfrm>
          <a:prstGeom prst="round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4</a:t>
            </a:r>
            <a:br/>
            <a:r>
              <a:t>Webhook to</a:t>
            </a:r>
            <a:br/>
            <a:r>
              <a:t>GCP API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06440" y="201168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A4A4A"/>
                </a:solidFill>
              </a:defRPr>
            </a:pPr>
            <a:r>
              <a:t>-&gt;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645920"/>
            <a:ext cx="1280160" cy="1097280"/>
          </a:xfrm>
          <a:prstGeom prst="round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5</a:t>
            </a:r>
            <a:br/>
            <a:r>
              <a:t>SIP Transfer</a:t>
            </a:r>
            <a:br/>
            <a:r>
              <a:t>+ X-Headers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69480" y="201168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A4A4A"/>
                </a:solidFill>
              </a:defRPr>
            </a:pPr>
            <a:r>
              <a:t>-&gt;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89520" y="1645920"/>
            <a:ext cx="1280160" cy="1097280"/>
          </a:xfrm>
          <a:prstGeom prst="round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6</a:t>
            </a:r>
            <a:br/>
            <a:r>
              <a:t>SBC HMR</a:t>
            </a:r>
            <a:br/>
            <a:r>
              <a:t>(Normalize)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32520" y="201168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A4A4A"/>
                </a:solidFill>
              </a:defRPr>
            </a:pPr>
            <a:r>
              <a:t>-&gt;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52560" y="1645920"/>
            <a:ext cx="1280160" cy="1097280"/>
          </a:xfrm>
          <a:prstGeom prst="round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7</a:t>
            </a:r>
            <a:br/>
            <a:r>
              <a:t>Genesys ORS</a:t>
            </a:r>
            <a:br/>
            <a:r>
              <a:t>(Route)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195560" y="201168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A4A4A"/>
                </a:solidFill>
              </a:defRPr>
            </a:pPr>
            <a:r>
              <a:t>-&gt;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515600" y="1645920"/>
            <a:ext cx="1280160" cy="1097280"/>
          </a:xfrm>
          <a:prstGeom prst="round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8</a:t>
            </a:r>
            <a:br/>
            <a:r>
              <a:t>Agent</a:t>
            </a:r>
            <a:br/>
            <a:r>
              <a:t>(Screen Pop)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3200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2A4A"/>
                </a:solidFill>
              </a:defRPr>
            </a:pPr>
            <a:r>
              <a:t>Data Conserved at Each Step: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365760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C5F8A"/>
                </a:solidFill>
              </a:defRPr>
            </a:pPr>
            <a:r>
              <a:t>Step 3 (Five9 IVR)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26080" y="3657600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A4A4A"/>
                </a:solidFill>
              </a:defRPr>
            </a:pPr>
            <a:r>
              <a:t>ANI, DNIS, Language, Menu Choice, Intent, Priority, CustomerID, Account Balance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411480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C5F8A"/>
                </a:solidFill>
              </a:defRPr>
            </a:pPr>
            <a:r>
              <a:t>Step 4 (GCP Webhook)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26080" y="4114800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A4A4A"/>
                </a:solidFill>
              </a:defRPr>
            </a:pPr>
            <a:r>
              <a:t>All IVR data + Five9 UUID + Correlation ID -&gt; stored in Firestore (enriched with CRM data)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457200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C5F8A"/>
                </a:solidFill>
              </a:defRPr>
            </a:pPr>
            <a:r>
              <a:t>Step 5 (SIP Transfer)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26080" y="4572000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A4A4A"/>
                </a:solidFill>
              </a:defRPr>
            </a:pPr>
            <a:r>
              <a:t>12 X-Headers carrying all context + P-Asserted-Identity (original ANI)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502920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C5F8A"/>
                </a:solidFill>
              </a:defRPr>
            </a:pPr>
            <a:r>
              <a:t>Step 6 (SBC HMR)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926080" y="5029200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A4A4A"/>
                </a:solidFill>
              </a:defRPr>
            </a:pPr>
            <a:r>
              <a:t>Headers normalized: X-Five9-* -&gt; X-Bridge-* format for Genesys consumption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548640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C5F8A"/>
                </a:solidFill>
              </a:defRPr>
            </a:pPr>
            <a:r>
              <a:t>Step 7 (Genesys ORS)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926080" y="5486400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A4A4A"/>
                </a:solidFill>
              </a:defRPr>
            </a:pPr>
            <a:r>
              <a:t>Headers mapped to UserData KVPs + middleware API call for full enriched context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594360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C5F8A"/>
                </a:solidFill>
              </a:defRPr>
            </a:pPr>
            <a:r>
              <a:t>Step 8 (Agent)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926080" y="5943600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A4A4A"/>
                </a:solidFill>
              </a:defRPr>
            </a:pPr>
            <a:r>
              <a:t>Full screen pop: Customer Name, Intent, Balance, IVR Path, Correlation ID, Priority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2A4A"/>
                </a:solidFill>
              </a:defRPr>
            </a:pPr>
            <a:r>
              <a:t>SIP Transfer: Voice + Data Bridge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10972800" cy="381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5029200" cy="5029200"/>
          </a:xfrm>
          <a:prstGeom prst="roundRect">
            <a:avLst/>
          </a:prstGeom>
          <a:solidFill>
            <a:srgbClr val="F0F2F5"/>
          </a:solidFill>
          <a:ln w="19050">
            <a:solidFill>
              <a:srgbClr val="2C5F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C5F8A"/>
                </a:solidFill>
              </a:defRPr>
            </a:pPr>
            <a:r>
              <a:t>SIP INVITE (Five9 -&gt; SBC -&gt; Genesys)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A4A4A"/>
                </a:solidFill>
              </a:defRPr>
            </a:pPr>
            <a:r>
              <a:t>INVITE sip:RP_Billing@sbc-a.company.com SIP/2.0</a:t>
            </a:r>
            <a:br/>
            <a:br/>
            <a:r>
              <a:t>P-Asserted-Identity: &lt;sip:+15551234567@company.com&gt;</a:t>
            </a:r>
            <a:br/>
            <a:br/>
            <a:r>
              <a:t>X-Five9-CorrelationId: 550e8400-e29b-41d4...</a:t>
            </a:r>
            <a:br/>
            <a:r>
              <a:t>X-Five9-Intent: billing</a:t>
            </a:r>
            <a:br/>
            <a:r>
              <a:t>X-Five9-CustID: CUST-99001</a:t>
            </a:r>
            <a:br/>
            <a:r>
              <a:t>X-Five9-Language: en</a:t>
            </a:r>
            <a:br/>
            <a:r>
              <a:t>X-Five9-MenuChoice: 1</a:t>
            </a:r>
            <a:br/>
            <a:r>
              <a:t>X-Five9-Priority: normal</a:t>
            </a:r>
            <a:br/>
            <a:r>
              <a:t>X-Five9-CallUUID: five9-sess-abc123</a:t>
            </a:r>
            <a:br/>
            <a:r>
              <a:t>X-Five9-ANI: +15551234567</a:t>
            </a:r>
            <a:br/>
            <a:r>
              <a:t>X-Five9-DNIS: 18005551234</a:t>
            </a:r>
            <a:br/>
            <a:r>
              <a:t>X-Five9-Balance: $1,234.56</a:t>
            </a:r>
            <a:br/>
            <a:r>
              <a:t>X-Five9-Timestamp: 2024-03-15T10:30:00Z</a:t>
            </a:r>
            <a:br/>
            <a:br/>
            <a:r>
              <a:t>Content-Type: application/sdp</a:t>
            </a:r>
            <a:br/>
            <a:r>
              <a:t>m=audio 20000 RTP/AVP 0 8 101  (G.711u/a)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0" y="1280160"/>
            <a:ext cx="5669280" cy="2286000"/>
          </a:xfrm>
          <a:prstGeom prst="round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26480" y="137160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</a:defRPr>
            </a:pPr>
            <a:r>
              <a:t>SBC Header Manipulation (HMR)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1828800"/>
            <a:ext cx="5303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</a:defRPr>
            </a:pPr>
            <a:r>
              <a:t>1. Maps X-Five9-* headers -&gt; X-Bridge-* format</a:t>
            </a:r>
            <a:br/>
            <a:r>
              <a:t>2. Preserves original ANI in P-Asserted-Identity</a:t>
            </a:r>
            <a:br/>
            <a:r>
              <a:t>3. Strips Five9-specific topology info</a:t>
            </a:r>
            <a:br/>
            <a:r>
              <a:t>4. Rewrites Request-URI to Genesys RP address</a:t>
            </a:r>
            <a:br/>
            <a:r>
              <a:t>5. Anchors media (RTP stays through SBC)</a:t>
            </a:r>
            <a:br/>
            <a:r>
              <a:t>6. Applies TLS termination (Five9=TLS, Genesys=TCP)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0" y="3840480"/>
            <a:ext cx="5669280" cy="2468880"/>
          </a:xfrm>
          <a:prstGeom prst="round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26480" y="393192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</a:defRPr>
            </a:pPr>
            <a:r>
              <a:t>Genesys SIP Server Processing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4389120"/>
            <a:ext cx="5303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</a:defRPr>
            </a:pPr>
            <a:r>
              <a:t>1. Receives INVITE on Trunk DN (TRK_Five9_Bridge_In)</a:t>
            </a:r>
            <a:br/>
            <a:r>
              <a:t>2. Extracts X-Bridge-* headers -&gt; UserData KVPs</a:t>
            </a:r>
            <a:br/>
            <a:r>
              <a:t>3. Routes to RP_Bridge_Entry (master routing point)</a:t>
            </a:r>
            <a:br/>
            <a:r>
              <a:t>4. ORS strategy reads UserData + calls GCP API</a:t>
            </a:r>
            <a:br/>
            <a:r>
              <a:t>5. Routes to AG_Billing with priority &amp; language skills</a:t>
            </a:r>
            <a:br/>
            <a:r>
              <a:t>6. Agent receives call + full Five9 IVR context screen pop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2A4A"/>
                </a:solidFill>
              </a:defRPr>
            </a:pPr>
            <a:r>
              <a:t>Data Conservation: Unified Correlation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10972800" cy="381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2A4A"/>
                </a:solidFill>
              </a:defRPr>
            </a:pPr>
            <a:r>
              <a:t>Single Correlation UUID travels across all 4 platforms: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737360"/>
            <a:ext cx="2560320" cy="1097280"/>
          </a:xfrm>
          <a:prstGeom prst="round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Five9</a:t>
            </a:r>
            <a:br/>
            <a:br/>
            <a:r>
              <a:t>CAV + Call Log</a:t>
            </a:r>
            <a:br/>
            <a:r>
              <a:t>+ Recording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34640" y="210312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A4A4A"/>
                </a:solidFill>
              </a:defRPr>
            </a:pPr>
            <a:r>
              <a:t>-&gt;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83280" y="1737360"/>
            <a:ext cx="2560320" cy="1097280"/>
          </a:xfrm>
          <a:prstGeom prst="round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Oracle SBC</a:t>
            </a:r>
            <a:br/>
            <a:br/>
            <a:r>
              <a:t>CDR + SIP</a:t>
            </a:r>
            <a:br/>
            <a:r>
              <a:t>Trace Logs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720" y="210312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A4A4A"/>
                </a:solidFill>
              </a:defRPr>
            </a:pPr>
            <a:r>
              <a:t>-&gt;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737360"/>
            <a:ext cx="2560320" cy="1097280"/>
          </a:xfrm>
          <a:prstGeom prst="round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GCP</a:t>
            </a:r>
            <a:br/>
            <a:br/>
            <a:r>
              <a:t>Firestore Doc ID</a:t>
            </a:r>
            <a:br/>
            <a:r>
              <a:t>+ BigQuery + Pub/Sub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210312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A4A4A"/>
                </a:solidFill>
              </a:defRPr>
            </a:pPr>
            <a:r>
              <a:t>-&gt;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235440" y="1737360"/>
            <a:ext cx="2560320" cy="1097280"/>
          </a:xfrm>
          <a:prstGeom prst="round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Genesys</a:t>
            </a:r>
            <a:br/>
            <a:br/>
            <a:r>
              <a:t>UserData + Info Mart</a:t>
            </a:r>
            <a:br/>
            <a:r>
              <a:t>+ Pulse + Recording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286000" y="3108960"/>
            <a:ext cx="7315200" cy="45720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Correlation ID: 550e8400-e29b-41d4-a716-446655440000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840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B2A4A"/>
                </a:solidFill>
              </a:defRPr>
            </a:pPr>
            <a:r>
              <a:t>Data Fields Conserved End-to-End (12 fields in SIP + enriched via API):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2976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4A4A"/>
                </a:solidFill>
              </a:defRPr>
            </a:pPr>
            <a:r>
              <a:t>  ANI (original caller)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6634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4A4A"/>
                </a:solidFill>
              </a:defRPr>
            </a:pPr>
            <a:r>
              <a:t>  DNIS (number dialed)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0292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4A4A"/>
                </a:solidFill>
              </a:defRPr>
            </a:pPr>
            <a:r>
              <a:t>  Language (en/es)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3949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4A4A"/>
                </a:solidFill>
              </a:defRPr>
            </a:pPr>
            <a:r>
              <a:t>  Menu Choice (1-5)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7607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4A4A"/>
                </a:solidFill>
              </a:defRPr>
            </a:pPr>
            <a:r>
              <a:t>  Intent (billing/sales/tech)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61264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4A4A"/>
                </a:solidFill>
              </a:defRPr>
            </a:pPr>
            <a:r>
              <a:t>  Customer ID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0" y="42976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4A4A"/>
                </a:solidFill>
              </a:defRPr>
            </a:pPr>
            <a:r>
              <a:t>  Account Balance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0" y="46634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4A4A"/>
                </a:solidFill>
              </a:defRPr>
            </a:pPr>
            <a:r>
              <a:t>  Priority (high/normal)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0" y="50292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4A4A"/>
                </a:solidFill>
              </a:defRPr>
            </a:pPr>
            <a:r>
              <a:t>  Five9 Call UUID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0" y="53949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4A4A"/>
                </a:solidFill>
              </a:defRPr>
            </a:pPr>
            <a:r>
              <a:t>  IVR Timestamp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0" y="57607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4A4A"/>
                </a:solidFill>
              </a:defRPr>
            </a:pPr>
            <a:r>
              <a:t>  IVR Duration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0" y="61264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4A4A"/>
                </a:solidFill>
              </a:defRPr>
            </a:pPr>
            <a:r>
              <a:t>  Transfer Target (RP name)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6400800"/>
            <a:ext cx="11247120" cy="365760"/>
          </a:xfrm>
          <a:prstGeom prst="roundRect">
            <a:avLst/>
          </a:prstGeom>
          <a:solidFill>
            <a:srgbClr val="F0F2F5"/>
          </a:solidFill>
          <a:ln w="19050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4A4A4A"/>
                </a:solidFill>
              </a:defRPr>
            </a:pPr>
            <a:r>
              <a:t>+ CRM-enriched fields from GCP middleware: Customer Name, Segment (VIP/Standard), Account Type, Open Cases, Last Interaction Date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2A4A"/>
                </a:solidFill>
              </a:defRPr>
            </a:pPr>
            <a:r>
              <a:t>Failover &amp; Resilience Strategy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10972800" cy="381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74320" y="1371600"/>
            <a:ext cx="1828800" cy="1097280"/>
          </a:xfrm>
          <a:prstGeom prst="round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Genesys Down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0" y="1371600"/>
            <a:ext cx="4114800" cy="1097280"/>
          </a:xfrm>
          <a:prstGeom prst="roundRect">
            <a:avLst/>
          </a:prstGeom>
          <a:solidFill>
            <a:srgbClr val="F0F2F5"/>
          </a:solidFill>
          <a:ln w="19050">
            <a:solidFill>
              <a:srgbClr val="28A7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4A4A4A"/>
                </a:solidFill>
              </a:defRPr>
            </a:pPr>
            <a:r>
              <a:t>SBC OPTIONS ping detects failure</a:t>
            </a:r>
            <a:br/>
            <a:r>
              <a:t>Returns 503 to Five9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0" y="1371600"/>
            <a:ext cx="5029200" cy="1097280"/>
          </a:xfrm>
          <a:prstGeom prst="roundRect">
            <a:avLst/>
          </a:prstGeom>
          <a:solidFill>
            <a:srgbClr val="F0F2F5"/>
          </a:solidFill>
          <a:ln w="19050">
            <a:solidFill>
              <a:srgbClr val="28A7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4A4A4A"/>
                </a:solidFill>
              </a:defRPr>
            </a:pPr>
            <a:r>
              <a:t>Five9 offers callback</a:t>
            </a:r>
            <a:br/>
            <a:r>
              <a:t>or queues caller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2697480"/>
            <a:ext cx="1828800" cy="1097280"/>
          </a:xfrm>
          <a:prstGeom prst="round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SBC Failure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86000" y="2697480"/>
            <a:ext cx="4114800" cy="1097280"/>
          </a:xfrm>
          <a:prstGeom prst="roundRect">
            <a:avLst/>
          </a:prstGeom>
          <a:solidFill>
            <a:srgbClr val="F0F2F5"/>
          </a:solidFill>
          <a:ln w="19050">
            <a:solidFill>
              <a:srgbClr val="2C5F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4A4A4A"/>
                </a:solidFill>
              </a:defRPr>
            </a:pPr>
            <a:r>
              <a:t>HA heartbeat miss (500ms)</a:t>
            </a:r>
            <a:br/>
            <a:r>
              <a:t>Standby SBC takes over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0" y="2697480"/>
            <a:ext cx="5029200" cy="1097280"/>
          </a:xfrm>
          <a:prstGeom prst="roundRect">
            <a:avLst/>
          </a:prstGeom>
          <a:solidFill>
            <a:srgbClr val="F0F2F5"/>
          </a:solidFill>
          <a:ln w="19050">
            <a:solidFill>
              <a:srgbClr val="2C5F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4A4A4A"/>
                </a:solidFill>
              </a:defRPr>
            </a:pPr>
            <a:r>
              <a:t>1-2 second blip</a:t>
            </a:r>
            <a:br/>
            <a:r>
              <a:t>Active calls preserved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4023360"/>
            <a:ext cx="1828800" cy="1097280"/>
          </a:xfrm>
          <a:prstGeom prst="round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GCP Middleware</a:t>
            </a:r>
            <a:br/>
            <a:r>
              <a:t>Down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286000" y="4023360"/>
            <a:ext cx="4114800" cy="1097280"/>
          </a:xfrm>
          <a:prstGeom prst="roundRect">
            <a:avLst/>
          </a:prstGeom>
          <a:solidFill>
            <a:srgbClr val="F0F2F5"/>
          </a:solidFill>
          <a:ln w="19050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4A4A4A"/>
                </a:solidFill>
              </a:defRPr>
            </a:pPr>
            <a:r>
              <a:t>ORS HTTP timeout (5s)</a:t>
            </a:r>
            <a:br/>
            <a:r>
              <a:t>Graceful degradation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0" y="4023360"/>
            <a:ext cx="5029200" cy="1097280"/>
          </a:xfrm>
          <a:prstGeom prst="roundRect">
            <a:avLst/>
          </a:prstGeom>
          <a:solidFill>
            <a:srgbClr val="F0F2F5"/>
          </a:solidFill>
          <a:ln w="19050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4A4A4A"/>
                </a:solidFill>
              </a:defRPr>
            </a:pPr>
            <a:r>
              <a:t>Routes with SIP headers only</a:t>
            </a:r>
            <a:br/>
            <a:r>
              <a:t>No enriched data but call works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" y="5349240"/>
            <a:ext cx="1828800" cy="1097280"/>
          </a:xfrm>
          <a:prstGeom prst="round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Five9 Platform</a:t>
            </a:r>
            <a:br/>
            <a:r>
              <a:t>Outage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286000" y="5349240"/>
            <a:ext cx="4114800" cy="1097280"/>
          </a:xfrm>
          <a:prstGeom prst="roundRect">
            <a:avLst/>
          </a:prstGeom>
          <a:solidFill>
            <a:srgbClr val="F0F2F5"/>
          </a:solidFill>
          <a:ln w="19050">
            <a:solidFill>
              <a:srgbClr val="E86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4A4A4A"/>
                </a:solidFill>
              </a:defRPr>
            </a:pPr>
            <a:r>
              <a:t>SBC detects Five9 OOS</a:t>
            </a:r>
            <a:br/>
            <a:r>
              <a:t>via OPTIONS ping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0" y="5349240"/>
            <a:ext cx="5029200" cy="1097280"/>
          </a:xfrm>
          <a:prstGeom prst="roundRect">
            <a:avLst/>
          </a:prstGeom>
          <a:solidFill>
            <a:srgbClr val="F0F2F5"/>
          </a:solidFill>
          <a:ln w="19050">
            <a:solidFill>
              <a:srgbClr val="E86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4A4A4A"/>
                </a:solidFill>
              </a:defRPr>
            </a:pPr>
            <a:r>
              <a:t>SBC routes PSTN directly</a:t>
            </a:r>
            <a:br/>
            <a:r>
              <a:t>to Genesys (bypass Five9)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10972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B2A4A"/>
                </a:solidFill>
              </a:defRPr>
            </a:pPr>
            <a:r>
              <a:t>Failure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68880" y="10972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B2A4A"/>
                </a:solidFill>
              </a:defRPr>
            </a:pPr>
            <a:r>
              <a:t>Detection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0" y="10972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B2A4A"/>
                </a:solidFill>
              </a:defRPr>
            </a:pPr>
            <a:r>
              <a:t>Caller Experience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74320" y="6400800"/>
            <a:ext cx="11430000" cy="36576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Design Principle: No single component failure drops a call. Caller always gets callback option or stays in queue.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2A4A"/>
                </a:solidFill>
              </a:defRPr>
            </a:pPr>
            <a:r>
              <a:t>Monitoring &amp; Unified Observability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10972800" cy="381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2A4A"/>
                </a:solidFill>
              </a:defRPr>
            </a:pPr>
            <a:r>
              <a:t>Key Performance Indicators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459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4A4A"/>
                </a:solidFill>
              </a:defRPr>
            </a:pPr>
            <a:r>
              <a:t>Transfer Success Rate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40480" y="1645920"/>
            <a:ext cx="1097280" cy="365760"/>
          </a:xfrm>
          <a:prstGeom prst="round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&gt; 99%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20640" y="16459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C5F8A"/>
                </a:solidFill>
              </a:defRPr>
            </a:pPr>
            <a:r>
              <a:t>SBC CDR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488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4A4A"/>
                </a:solidFill>
              </a:defRPr>
            </a:pPr>
            <a:r>
              <a:t>Transfer Latency (p95)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40480" y="2148840"/>
            <a:ext cx="1097280" cy="365760"/>
          </a:xfrm>
          <a:prstGeom prst="round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&lt; 15 sec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20640" y="21488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C5F8A"/>
                </a:solidFill>
              </a:defRPr>
            </a:pPr>
            <a:r>
              <a:t>Middleware timestamps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6517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4A4A"/>
                </a:solidFill>
              </a:defRPr>
            </a:pPr>
            <a:r>
              <a:t>Middleware API Latency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40480" y="2651760"/>
            <a:ext cx="1097280" cy="365760"/>
          </a:xfrm>
          <a:prstGeom prst="round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&lt; 500ms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20640" y="26517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C5F8A"/>
                </a:solidFill>
              </a:defRPr>
            </a:pPr>
            <a:r>
              <a:t>Cloud Run metrics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1546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4A4A"/>
                </a:solidFill>
              </a:defRPr>
            </a:pPr>
            <a:r>
              <a:t>Correlation Match Rate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840480" y="3154680"/>
            <a:ext cx="1097280" cy="365760"/>
          </a:xfrm>
          <a:prstGeom prst="round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&gt; 98%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20640" y="31546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C5F8A"/>
                </a:solidFill>
              </a:defRPr>
            </a:pPr>
            <a:r>
              <a:t>Firestore vs Genesys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6576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4A4A"/>
                </a:solidFill>
              </a:defRPr>
            </a:pPr>
            <a:r>
              <a:t>SBC Capacity Used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840480" y="3657600"/>
            <a:ext cx="1097280" cy="365760"/>
          </a:xfrm>
          <a:prstGeom prst="round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&lt; 80%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20640" y="36576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C5F8A"/>
                </a:solidFill>
              </a:defRPr>
            </a:pPr>
            <a:r>
              <a:t>SNMP polling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3891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2A4A"/>
                </a:solidFill>
              </a:defRPr>
            </a:pPr>
            <a:r>
              <a:t>Monitoring Stack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8463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C5F8A"/>
                </a:solidFill>
              </a:defRPr>
            </a:pPr>
            <a:r>
              <a:t>GCP Cloud Monitoring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74720" y="484632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A4A4A"/>
                </a:solidFill>
              </a:defRPr>
            </a:pPr>
            <a:r>
              <a:t>Dashboards, alerting, uptime checks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523036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C5F8A"/>
                </a:solidFill>
              </a:defRPr>
            </a:pPr>
            <a:r>
              <a:t>Cloud Logging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74720" y="5230368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A4A4A"/>
                </a:solidFill>
              </a:defRPr>
            </a:pPr>
            <a:r>
              <a:t>Structured logs with correlation ID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5614416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C5F8A"/>
                </a:solidFill>
              </a:defRPr>
            </a:pPr>
            <a:r>
              <a:t>BigQuery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74720" y="5614416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A4A4A"/>
                </a:solidFill>
              </a:defRPr>
            </a:pPr>
            <a:r>
              <a:t>Unified cross-platform reporting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5998464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C5F8A"/>
                </a:solidFill>
              </a:defRPr>
            </a:pPr>
            <a:r>
              <a:t>Pub/Sub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74720" y="5998464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A4A4A"/>
                </a:solidFill>
              </a:defRPr>
            </a:pPr>
            <a:r>
              <a:t>Real-time event streaming for NOC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638251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C5F8A"/>
                </a:solidFill>
              </a:defRPr>
            </a:pPr>
            <a:r>
              <a:t>PagerDuty/Slack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74720" y="6382512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A4A4A"/>
                </a:solidFill>
              </a:defRPr>
            </a:pPr>
            <a:r>
              <a:t>P1 alerts for transfer failures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772400" y="1188720"/>
            <a:ext cx="3931920" cy="5303520"/>
          </a:xfrm>
          <a:prstGeom prst="roundRect">
            <a:avLst/>
          </a:prstGeom>
          <a:solidFill>
            <a:srgbClr val="F0F2F5"/>
          </a:solidFill>
          <a:ln w="19050">
            <a:solidFill>
              <a:srgbClr val="DC3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955279" y="12801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DC3545"/>
                </a:solidFill>
              </a:defRPr>
            </a:pPr>
            <a:r>
              <a:t>Critical Alert Rules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46720" y="182880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A4A4A"/>
                </a:solidFill>
              </a:defRPr>
            </a:pPr>
            <a:r>
              <a:t>  Transfer failure &gt; 5% (5 min) -&gt; P1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46720" y="237744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A4A4A"/>
                </a:solidFill>
              </a:defRPr>
            </a:pPr>
            <a:r>
              <a:t>  Middleware p99 &gt; 3s -&gt; Warning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46720" y="292608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A4A4A"/>
                </a:solidFill>
              </a:defRPr>
            </a:pPr>
            <a:r>
              <a:t>  Genesys SIP unreachable -&gt; P1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46720" y="347472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A4A4A"/>
                </a:solidFill>
              </a:defRPr>
            </a:pPr>
            <a:r>
              <a:t>  SBC capacity &gt; 90% -&gt; Warning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46720" y="402336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A4A4A"/>
                </a:solidFill>
              </a:defRPr>
            </a:pPr>
            <a:r>
              <a:t>  Correlation miss &gt; 10% -&gt; P2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2A4A"/>
                </a:solidFill>
              </a:defRPr>
            </a:pPr>
            <a:r>
              <a:t>Deployment Approach &amp; Timeline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10972800" cy="381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74320" y="1371600"/>
            <a:ext cx="2743200" cy="731520"/>
          </a:xfrm>
          <a:prstGeom prst="round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Phase 1</a:t>
            </a:r>
            <a:br/>
            <a:r>
              <a:t>Infra Setup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2194560"/>
            <a:ext cx="2743200" cy="45720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Week 1-2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2743200"/>
            <a:ext cx="2743200" cy="1371600"/>
          </a:xfrm>
          <a:prstGeom prst="roundRect">
            <a:avLst/>
          </a:prstGeom>
          <a:solidFill>
            <a:srgbClr val="F0F2F5"/>
          </a:solidFill>
          <a:ln w="19050">
            <a:solidFill>
              <a:srgbClr val="2C5F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4A4A4A"/>
                </a:solidFill>
              </a:defRPr>
            </a:pPr>
            <a:r>
              <a:t>SBC deploy, GCP infra,</a:t>
            </a:r>
            <a:br/>
            <a:r>
              <a:t>TLS certs, connectivity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34640" y="155448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A4A4A"/>
                </a:solidFill>
              </a:defRPr>
            </a:pPr>
            <a:r>
              <a:t>-&gt;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0400" y="1371600"/>
            <a:ext cx="2743200" cy="731520"/>
          </a:xfrm>
          <a:prstGeom prst="round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Phase 2</a:t>
            </a:r>
            <a:br/>
            <a:r>
              <a:t>Config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0" y="2194560"/>
            <a:ext cx="2743200" cy="45720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Week 3-4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0" y="2743200"/>
            <a:ext cx="2743200" cy="1371600"/>
          </a:xfrm>
          <a:prstGeom prst="roundRect">
            <a:avLst/>
          </a:prstGeom>
          <a:solidFill>
            <a:srgbClr val="F0F2F5"/>
          </a:solidFill>
          <a:ln w="19050"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4A4A4A"/>
                </a:solidFill>
              </a:defRPr>
            </a:pPr>
            <a:r>
              <a:t>Five9 IVR, Genesys objects,</a:t>
            </a:r>
            <a:br/>
            <a:r>
              <a:t>SBC HMR, middleware API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60720" y="155448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A4A4A"/>
                </a:solidFill>
              </a:defRPr>
            </a:pPr>
            <a:r>
              <a:t>-&gt;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371600"/>
            <a:ext cx="2743200" cy="731520"/>
          </a:xfrm>
          <a:prstGeom prst="round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Phase 3</a:t>
            </a:r>
            <a:br/>
            <a:r>
              <a:t>Testing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2194560"/>
            <a:ext cx="2743200" cy="45720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Week 5-6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2743200"/>
            <a:ext cx="2743200" cy="1371600"/>
          </a:xfrm>
          <a:prstGeom prst="roundRect">
            <a:avLst/>
          </a:prstGeom>
          <a:solidFill>
            <a:srgbClr val="F0F2F5"/>
          </a:solidFill>
          <a:ln w="19050">
            <a:solidFill>
              <a:srgbClr val="28A7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4A4A4A"/>
                </a:solidFill>
              </a:defRPr>
            </a:pPr>
            <a:r>
              <a:t>E2E calls, failover tests,</a:t>
            </a:r>
            <a:br/>
            <a:r>
              <a:t>load test (50 concurrent)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0" y="155448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A4A4A"/>
                </a:solidFill>
              </a:defRPr>
            </a:pPr>
            <a:r>
              <a:t>-&gt;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52560" y="1371600"/>
            <a:ext cx="2743200" cy="731520"/>
          </a:xfrm>
          <a:prstGeom prst="round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Phase 4</a:t>
            </a:r>
            <a:br/>
            <a:r>
              <a:t>Pilot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52560" y="2194560"/>
            <a:ext cx="2743200" cy="45720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Week 7-8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52560" y="2743200"/>
            <a:ext cx="2743200" cy="1371600"/>
          </a:xfrm>
          <a:prstGeom prst="roundRect">
            <a:avLst/>
          </a:prstGeom>
          <a:solidFill>
            <a:srgbClr val="F0F2F5"/>
          </a:solidFill>
          <a:ln w="19050">
            <a:solidFill>
              <a:srgbClr val="E86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4A4A4A"/>
                </a:solidFill>
              </a:defRPr>
            </a:pPr>
            <a:r>
              <a:t>10% traffic, monitor 48h,</a:t>
            </a:r>
            <a:br/>
            <a:r>
              <a:t>ramp to 50%, then 100%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5720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2A4A"/>
                </a:solidFill>
              </a:defRPr>
            </a:pPr>
            <a:r>
              <a:t>Go-Live Success Criteria: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0292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4A4A"/>
                </a:solidFill>
              </a:defRPr>
            </a:pPr>
            <a:r>
              <a:t>  99%+ transfer success rate over 48-hour pilot window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37667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4A4A"/>
                </a:solidFill>
              </a:defRPr>
            </a:pPr>
            <a:r>
              <a:t>  All SIP headers correctly passing through (verified via SIP traces)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5724144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4A4A"/>
                </a:solidFill>
              </a:defRPr>
            </a:pPr>
            <a:r>
              <a:t>  Agent screen pop displays full Five9 IVR context on every call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6071616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4A4A"/>
                </a:solidFill>
              </a:defRPr>
            </a:pPr>
            <a:r>
              <a:t>  Failover tested: Genesys down -&gt; caller gets callback within 30s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641908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4A4A"/>
                </a:solidFill>
              </a:defRPr>
            </a:pPr>
            <a:r>
              <a:t>  Unified correlation ID visible in both Five9 reports AND Genesys Info Mart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2A4A"/>
                </a:solidFill>
              </a:defRPr>
            </a:pPr>
            <a:r>
              <a:t>Risks &amp; Mitigations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10972800" cy="381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B2A4A"/>
                </a:solidFill>
              </a:defRPr>
            </a:pPr>
            <a:r>
              <a:t>Risk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0" y="11887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B2A4A"/>
                </a:solidFill>
              </a:defRPr>
            </a:pPr>
            <a:r>
              <a:t>Impact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0" y="118872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B2A4A"/>
                </a:solidFill>
              </a:defRPr>
            </a:pPr>
            <a:r>
              <a:t>Mitigation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0" y="11887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B2A4A"/>
                </a:solidFill>
              </a:defRPr>
            </a:pPr>
            <a:r>
              <a:t>Level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64592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4A4A4A"/>
                </a:solidFill>
              </a:defRPr>
            </a:pPr>
            <a:r>
              <a:t>SIP Header Interop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164592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A4A4A"/>
                </a:solidFill>
              </a:defRPr>
            </a:pPr>
            <a:r>
              <a:t>Five9 may lowercase/modify headers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1645920"/>
            <a:ext cx="4114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A4A4A"/>
                </a:solidFill>
              </a:defRPr>
            </a:pPr>
            <a:r>
              <a:t>SBC HMR normalizes; tested in lab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0" y="1645920"/>
            <a:ext cx="1188720" cy="457200"/>
          </a:xfrm>
          <a:prstGeom prst="round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Medium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42316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4A4A4A"/>
                </a:solidFill>
              </a:defRPr>
            </a:pPr>
            <a:r>
              <a:t>Voice Quality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242316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A4A4A"/>
                </a:solidFill>
              </a:defRPr>
            </a:pPr>
            <a:r>
              <a:t>Additional SBC hop adds latency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2423160"/>
            <a:ext cx="4114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A4A4A"/>
                </a:solidFill>
              </a:defRPr>
            </a:pPr>
            <a:r>
              <a:t>G.711 codec; &lt; 5ms added per hop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241280" y="2423160"/>
            <a:ext cx="1188720" cy="457200"/>
          </a:xfrm>
          <a:prstGeom prst="round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Low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20040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4A4A4A"/>
                </a:solidFill>
              </a:defRPr>
            </a:pPr>
            <a:r>
              <a:t>Genesys Dependency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0" y="320040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A4A4A"/>
                </a:solidFill>
              </a:defRPr>
            </a:pPr>
            <a:r>
              <a:t>Agents unavailable = callers stuck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0" y="3200400"/>
            <a:ext cx="4114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A4A4A"/>
                </a:solidFill>
              </a:defRPr>
            </a:pPr>
            <a:r>
              <a:t>Five9 offers callback within 30s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241280" y="3200400"/>
            <a:ext cx="1188720" cy="457200"/>
          </a:xfrm>
          <a:prstGeom prst="round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Medium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3977639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4A4A4A"/>
                </a:solidFill>
              </a:defRPr>
            </a:pPr>
            <a:r>
              <a:t>Middleware Latency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0" y="3977639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A4A4A"/>
                </a:solidFill>
              </a:defRPr>
            </a:pPr>
            <a:r>
              <a:t>GCP API adds to call setup time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0" y="3977639"/>
            <a:ext cx="4114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A4A4A"/>
                </a:solidFill>
              </a:defRPr>
            </a:pPr>
            <a:r>
              <a:t>Graceful degradation; routes without enrichment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241280" y="3977639"/>
            <a:ext cx="1188720" cy="457200"/>
          </a:xfrm>
          <a:prstGeom prst="round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Low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475488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4A4A4A"/>
                </a:solidFill>
              </a:defRPr>
            </a:pPr>
            <a:r>
              <a:t>Data Loss on Failure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43200" y="475488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A4A4A"/>
                </a:solidFill>
              </a:defRPr>
            </a:pPr>
            <a:r>
              <a:t>Context not reaching Genesys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0" y="4754880"/>
            <a:ext cx="4114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A4A4A"/>
                </a:solidFill>
              </a:defRPr>
            </a:pPr>
            <a:r>
              <a:t>Dual path: SIP headers + HTTP API (belt &amp; suspenders)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241280" y="4754880"/>
            <a:ext cx="1188720" cy="457200"/>
          </a:xfrm>
          <a:prstGeom prst="round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Low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553212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4A4A4A"/>
                </a:solidFill>
              </a:defRPr>
            </a:pPr>
            <a:r>
              <a:t>Migration Rollback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43200" y="553212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A4A4A"/>
                </a:solidFill>
              </a:defRPr>
            </a:pPr>
            <a:r>
              <a:t>Need to revert to direct Genesys IVR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0" y="5532120"/>
            <a:ext cx="4114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A4A4A"/>
                </a:solidFill>
              </a:defRPr>
            </a:pPr>
            <a:r>
              <a:t>SBC policy change (1 CLI command) reverts traffic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241280" y="5532120"/>
            <a:ext cx="1188720" cy="457200"/>
          </a:xfrm>
          <a:prstGeom prst="round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Low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Recommended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0116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1.  Approve architecture and proceed with Phase 1 (Infrastructure Setup)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651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2.  Engage Five9 TAM for SIP trunk provisioning and custom header enablement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2918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3.  Provision Oracle SBC lab environment for SIP interop testing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9319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4.  Stand up GCP project and deploy Cloud Run middleware (dev/staging)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5720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5.  Schedule Genesys Configuration Server change window (Trunk DN + ORS deploy)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52120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6.  Define pilot DNIS list (10% of traffic) and success criteria sign-off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5852159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7.  Establish monitoring dashboards and PagerDuty escalation paths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6400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4A90D9"/>
                </a:solidFill>
              </a:defRPr>
            </a:pPr>
            <a:r>
              <a:t>Target: Production Go-Live in 8 weeks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