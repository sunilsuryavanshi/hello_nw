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Network Architecture: GCP Dedicated Interconnect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4A90D9"/>
                </a:solidFill>
              </a:rPr>
              <a:t>Dual DC (Dallas + Phoenix) | Private Voice &amp; Data Connectivity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2F5"/>
                </a:solidFill>
              </a:rPr>
              <a:t>99.99% SLA | &lt; 80ms Voice Latency | 10 Gbps Dedicated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840480"/>
            <a:ext cx="6705295" cy="2743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Physical Network Topology - Dual DC to GCP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560320" cy="2377440"/>
          </a:xfrm>
          <a:prstGeom prst="rect">
            <a:avLst/>
          </a:prstGeom>
          <a:solidFill>
            <a:srgbClr val="F0F2F5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</a:rPr>
              <a:t>Dallas DC (Primary)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19456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Oracle SBC (HA)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219456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Genesys SIP/ORS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657600"/>
            <a:ext cx="2560320" cy="2377440"/>
          </a:xfrm>
          <a:prstGeom prst="rect">
            <a:avLst/>
          </a:prstGeom>
          <a:solidFill>
            <a:srgbClr val="F0F2F5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703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</a:rPr>
              <a:t>Phoenix DC (DR)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219456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Oracle SBC (DR)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937760"/>
            <a:ext cx="219456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Genesys DR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188720"/>
            <a:ext cx="1645920" cy="59436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Equinix DA7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4A"/>
                </a:solidFill>
              </a:rPr>
              <a:t>10G 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2286000"/>
            <a:ext cx="1645920" cy="59436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Equinix DA2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4A"/>
                </a:solidFill>
              </a:rPr>
              <a:t>10G 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3931920"/>
            <a:ext cx="1645920" cy="59436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Equinix PH1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4A"/>
                </a:solidFill>
              </a:rPr>
              <a:t>10G 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5029200"/>
            <a:ext cx="1645920" cy="59436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DataBank PHX1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623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4A"/>
                </a:solidFill>
              </a:rPr>
              <a:t>10G Ded.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777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A4A4A"/>
                </a:solidFill>
              </a:rPr>
              <a:t>AT&amp;T Dark Fiber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3832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A4A4A"/>
                </a:solidFill>
              </a:rPr>
              <a:t>Verizon Dark Fiber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914400"/>
            <a:ext cx="3657600" cy="3200400"/>
          </a:xfrm>
          <a:prstGeom prst="roundRect">
            <a:avLst/>
          </a:prstGeom>
          <a:solidFill>
            <a:srgbClr val="E8F0FE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960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285F4"/>
                </a:solidFill>
              </a:rPr>
              <a:t>GCP us-south1 (Dallas)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1371600"/>
            <a:ext cx="3291840" cy="5029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Cloud Router / BGP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011680"/>
            <a:ext cx="3291840" cy="5029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GTP (Voice)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2651760"/>
            <a:ext cx="3291840" cy="5029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Dialogflow CX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3291840"/>
            <a:ext cx="3291840" cy="50292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Cloud Run (API)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4389120"/>
            <a:ext cx="3657600" cy="1097280"/>
          </a:xfrm>
          <a:prstGeom prst="roundRect">
            <a:avLst/>
          </a:prstGeom>
          <a:solidFill>
            <a:srgbClr val="E8F0EE"/>
          </a:solidFill>
          <a:ln w="1905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434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4A853"/>
                </a:solidFill>
              </a:rPr>
              <a:t>GCP us-central1 (DR)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6560" y="4846320"/>
            <a:ext cx="3291840" cy="457200"/>
          </a:xfrm>
          <a:prstGeom prst="roundRect">
            <a:avLst/>
          </a:prstGeom>
          <a:solidFill>
            <a:srgbClr val="AAC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0">
                <a:solidFill>
                  <a:srgbClr val="4A4A4A"/>
                </a:solidFill>
              </a:rPr>
              <a:t>DR Replicas (Standby)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85800"/>
            <a:ext cx="1645920" cy="4572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Five9 Cloud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834640" y="1463040"/>
            <a:ext cx="1005840" cy="228600"/>
          </a:xfrm>
          <a:prstGeom prst="line">
            <a:avLst/>
          </a:prstGeom>
          <a:ln w="2540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834640" y="1691640"/>
            <a:ext cx="1005840" cy="868680"/>
          </a:xfrm>
          <a:prstGeom prst="line">
            <a:avLst/>
          </a:prstGeom>
          <a:ln w="190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834640" y="4206240"/>
            <a:ext cx="1005840" cy="228600"/>
          </a:xfrm>
          <a:prstGeom prst="line">
            <a:avLst/>
          </a:prstGeom>
          <a:ln w="2540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34640" y="5257800"/>
            <a:ext cx="1005840" cy="45720"/>
          </a:xfrm>
          <a:prstGeom prst="line">
            <a:avLst/>
          </a:prstGeom>
          <a:ln w="190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486400" y="1463040"/>
            <a:ext cx="1097280" cy="137160"/>
          </a:xfrm>
          <a:prstGeom prst="line">
            <a:avLst/>
          </a:prstGeom>
          <a:ln w="25400">
            <a:solidFill>
              <a:srgbClr val="4285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486400" y="2286000"/>
            <a:ext cx="1097280" cy="274320"/>
          </a:xfrm>
          <a:prstGeom prst="line">
            <a:avLst/>
          </a:prstGeom>
          <a:ln w="25400">
            <a:solidFill>
              <a:srgbClr val="4285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486400" y="4206240"/>
            <a:ext cx="1097280" cy="36576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486400" y="4937760"/>
            <a:ext cx="1097280" cy="36576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280160" y="1143000"/>
            <a:ext cx="0" cy="228600"/>
          </a:xfrm>
          <a:prstGeom prst="line">
            <a:avLst/>
          </a:prstGeom>
          <a:ln w="2540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577840" y="11887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4285F4"/>
                </a:solidFill>
              </a:rPr>
              <a:t>10 Gbps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23774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285F4"/>
                </a:solidFill>
              </a:rPr>
              <a:t>SIP TLS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40233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4A853"/>
                </a:solidFill>
              </a:rPr>
              <a:t>SRTP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6217920"/>
            <a:ext cx="11612880" cy="502920"/>
          </a:xfrm>
          <a:prstGeom prst="rect">
            <a:avLst/>
          </a:prstGeom>
          <a:solidFill>
            <a:srgbClr val="FAFAFA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6327648"/>
            <a:ext cx="548640" cy="54864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</a:rPr>
              <a:t>Voice Path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6327648"/>
            <a:ext cx="54864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4680" y="6263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</a:rPr>
              <a:t>Data Path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6327648"/>
            <a:ext cx="548640" cy="54864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49240" y="6263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A4A4A"/>
                </a:solidFill>
              </a:rPr>
              <a:t>Dark Fiber (dashed)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Voice Path: Detailed Network Flow</a:t>
            </a:r>
          </a:p>
        </p:txBody>
      </p:sp>
      <p:sp>
        <p:nvSpPr>
          <p:cNvPr id="3" name="Oval 2"/>
          <p:cNvSpPr/>
          <p:nvPr/>
        </p:nvSpPr>
        <p:spPr>
          <a:xfrm>
            <a:off x="182880" y="2468880"/>
            <a:ext cx="1005840" cy="731520"/>
          </a:xfrm>
          <a:prstGeom prst="ellips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Caller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2377440"/>
            <a:ext cx="1188720" cy="9144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PSTN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331720"/>
            <a:ext cx="1371600" cy="10058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Oracle SBC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337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2C5F8A"/>
                </a:solidFill>
              </a:rPr>
              <a:t>SIP/RTP Ingress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2560320"/>
            <a:ext cx="1645920" cy="5486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Dedicated Interconnect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B2A4A"/>
                </a:solidFill>
              </a:rPr>
              <a:t>10G | VLAN 100 | &lt; 2ms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331720"/>
            <a:ext cx="1371600" cy="10058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GCP GTP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337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285F4"/>
                </a:solidFill>
              </a:rPr>
              <a:t>SIP TLS 5061
+ SRTP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331720"/>
            <a:ext cx="1645920" cy="10058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Dialogflow CX
/ CCAI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337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285F4"/>
                </a:solidFill>
              </a:rPr>
              <a:t>STT &gt; NLU &gt; TTS
50-100ms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2834640"/>
            <a:ext cx="274320" cy="0"/>
          </a:xfrm>
          <a:prstGeom prst="line">
            <a:avLst/>
          </a:prstGeom>
          <a:ln w="317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51760" y="2834640"/>
            <a:ext cx="274320" cy="0"/>
          </a:xfrm>
          <a:prstGeom prst="line">
            <a:avLst/>
          </a:prstGeom>
          <a:ln w="317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97680" y="2834640"/>
            <a:ext cx="274320" cy="0"/>
          </a:xfrm>
          <a:prstGeom prst="line">
            <a:avLst/>
          </a:prstGeom>
          <a:ln w="317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0" y="2834640"/>
            <a:ext cx="274320" cy="0"/>
          </a:xfrm>
          <a:prstGeom prst="line">
            <a:avLst/>
          </a:prstGeom>
          <a:ln w="317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834640"/>
            <a:ext cx="274320" cy="0"/>
          </a:xfrm>
          <a:prstGeom prst="line">
            <a:avLst/>
          </a:prstGeom>
          <a:ln w="317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114800"/>
            <a:ext cx="9601200" cy="5486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160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86C00"/>
                </a:solidFill>
              </a:rPr>
              <a:t>Return: GTP → Interconnect → SBC → Genesys SIP → Agent Desktop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84080" y="3337560"/>
            <a:ext cx="0" cy="777240"/>
          </a:xfrm>
          <a:prstGeom prst="line">
            <a:avLst/>
          </a:prstGeom>
          <a:ln w="190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14400" y="3337560"/>
            <a:ext cx="0" cy="777240"/>
          </a:xfrm>
          <a:prstGeom prst="line">
            <a:avLst/>
          </a:prstGeom>
          <a:ln w="19050">
            <a:solidFill>
              <a:srgbClr val="E8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B2A4A"/>
                </a:solidFill>
              </a:rPr>
              <a:t>Voice Path Specifications:</a:t>
            </a:r>
          </a:p>
          <a:p>
            <a:pPr algn="ctr"/>
            <a:r>
              <a:rPr sz="1000" b="1">
                <a:solidFill>
                  <a:srgbClr val="1B2A4A"/>
                </a:solidFill>
              </a:rPr>
              <a:t>Codec: G.711u (64kbps) | Encryption: TLS + SRTP | Latency: &lt; 80ms one-way | QoS: DSCP EF (46)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Data Path: Private API Connectivity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2286000"/>
            <a:ext cx="146304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Genesys 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2377440"/>
            <a:ext cx="1188720" cy="73152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DC Router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2286000"/>
            <a:ext cx="18288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Dedicated
Interconnect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B2A4A"/>
                </a:solidFill>
              </a:rPr>
              <a:t>10G | VLAN 200 | &lt; 2ms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2286000"/>
            <a:ext cx="1371600" cy="91440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Cloud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2286000"/>
            <a:ext cx="1554480" cy="91440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Private Service
Connect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286000"/>
            <a:ext cx="1645920" cy="91440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Cloud Run
Middleware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37360" y="2743200"/>
            <a:ext cx="365760" cy="0"/>
          </a:xfrm>
          <a:prstGeom prst="line">
            <a:avLst/>
          </a:prstGeom>
          <a:ln w="317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40" y="2743200"/>
            <a:ext cx="365760" cy="0"/>
          </a:xfrm>
          <a:prstGeom prst="line">
            <a:avLst/>
          </a:prstGeom>
          <a:ln w="317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0" y="2743200"/>
            <a:ext cx="365760" cy="0"/>
          </a:xfrm>
          <a:prstGeom prst="line">
            <a:avLst/>
          </a:prstGeom>
          <a:ln w="317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23760" y="2743200"/>
            <a:ext cx="274319" cy="0"/>
          </a:xfrm>
          <a:prstGeom prst="line">
            <a:avLst/>
          </a:prstGeom>
          <a:ln w="317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2560" y="2743200"/>
            <a:ext cx="274320" cy="0"/>
          </a:xfrm>
          <a:prstGeom prst="line">
            <a:avLst/>
          </a:prstGeom>
          <a:ln w="317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12480" y="3931920"/>
            <a:ext cx="1188720" cy="64008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Firestore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931920"/>
            <a:ext cx="1188720" cy="64008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BigQuery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0" y="3931920"/>
            <a:ext cx="1005840" cy="64008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Pub/Sub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9006840" y="3200400"/>
            <a:ext cx="1143000" cy="73152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49840" y="3200400"/>
            <a:ext cx="137160" cy="73152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49840" y="3200400"/>
            <a:ext cx="1325880" cy="73152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5029200"/>
            <a:ext cx="10332720" cy="9144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8A745"/>
                </a:solidFill>
              </a:rPr>
              <a:t>All Private - No Public IPs | Private Google Access | &lt; 50ms Round-Trip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GCP VPC Architecture &amp; Security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822960"/>
            <a:ext cx="9144000" cy="5486400"/>
          </a:xfrm>
          <a:prstGeom prst="rect">
            <a:avLst/>
          </a:prstGeom>
          <a:noFill/>
          <a:ln w="31750">
            <a:solidFill>
              <a:srgbClr val="DC354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C3545"/>
                </a:solidFill>
              </a:rPr>
              <a:t>VPC Service Controls Perimeter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8595360" cy="4114800"/>
          </a:xfrm>
          <a:prstGeom prst="rect">
            <a:avLst/>
          </a:prstGeom>
          <a:solidFill>
            <a:srgbClr val="F0F2F5"/>
          </a:solidFill>
          <a:ln w="254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5F8A"/>
                </a:solidFill>
              </a:rPr>
              <a:t>contact-center-vpc (Global)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560320" cy="2286000"/>
          </a:xfrm>
          <a:prstGeom prst="rect">
            <a:avLst/>
          </a:prstGeom>
          <a:solidFill>
            <a:srgbClr val="FFF0E0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</a:rPr>
              <a:t>voice-subnet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10.100.0.0/24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/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• GTP Endpoints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• SBC Landing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828800"/>
            <a:ext cx="2560320" cy="2286000"/>
          </a:xfrm>
          <a:prstGeom prst="rect">
            <a:avLst/>
          </a:prstGeom>
          <a:solidFill>
            <a:srgbClr val="E0F0FF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202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</a:rPr>
              <a:t>data-subnet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10.101.0.0/24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/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• Cloud Run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• PSC Endpoints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2560320" cy="2286000"/>
          </a:xfrm>
          <a:prstGeom prst="rect">
            <a:avLst/>
          </a:prstGeom>
          <a:solidFill>
            <a:srgbClr val="E8F0FE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</a:rPr>
              <a:t>ccai-subnet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10.102.0.0/24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/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• Dialogflow CX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• STT/TTS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8229600" cy="640080"/>
          </a:xfrm>
          <a:prstGeom prst="roundRect">
            <a:avLst/>
          </a:prstGeom>
          <a:solidFill>
            <a:srgbClr val="DDDDDD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0">
                <a:solidFill>
                  <a:srgbClr val="4A4A4A"/>
                </a:solidFill>
              </a:rPr>
              <a:t>us-central1 DR replicas (standby)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303520"/>
            <a:ext cx="2286000" cy="64008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Cloud Router
(Interconnect Entry)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011680" y="4114800"/>
            <a:ext cx="1417320" cy="1188720"/>
          </a:xfrm>
          <a:prstGeom prst="line">
            <a:avLst/>
          </a:prstGeom>
          <a:ln w="190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429000" y="4114800"/>
            <a:ext cx="1325880" cy="1188720"/>
          </a:xfrm>
          <a:prstGeom prst="line">
            <a:avLst/>
          </a:prstGeom>
          <a:ln w="190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429000" y="4114800"/>
            <a:ext cx="4069079" cy="1188720"/>
          </a:xfrm>
          <a:prstGeom prst="line">
            <a:avLst/>
          </a:prstGeom>
          <a:ln w="19050">
            <a:solidFill>
              <a:srgbClr val="4A9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200" y="914400"/>
            <a:ext cx="2377440" cy="502920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005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C3545"/>
                </a:solidFill>
              </a:rPr>
              <a:t>Security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146304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</a:rPr>
              <a:t>✓ Private Google Access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✓ No Public IPs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✓ Cloud Armor WAF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✓ Audit Logging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✓ CMEK Encryption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✓ VPC Svc Controls</a:t>
            </a:r>
          </a:p>
          <a:p>
            <a:pPr algn="l"/>
            <a:r>
              <a:rPr sz="900" b="0">
                <a:solidFill>
                  <a:srgbClr val="4A4A4A"/>
                </a:solidFill>
              </a:rPr>
              <a:t>✓ IAM Least Privilege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High Availability: 99.99% SLA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822960"/>
            <a:ext cx="5669280" cy="2834640"/>
          </a:xfrm>
          <a:prstGeom prst="rect">
            <a:avLst/>
          </a:prstGeom>
          <a:solidFill>
            <a:srgbClr val="F0FDF0"/>
          </a:solidFill>
          <a:ln w="1905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8A745"/>
                </a:solidFill>
              </a:rPr>
              <a:t>Normal Operation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88720" cy="5486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Dallas DC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371600"/>
            <a:ext cx="109728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DA7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371600"/>
            <a:ext cx="1828800" cy="5486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GCP us-south1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45920" y="1645920"/>
            <a:ext cx="365760" cy="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08960" y="1645920"/>
            <a:ext cx="548640" cy="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11680" y="2286000"/>
            <a:ext cx="1097280" cy="548640"/>
          </a:xfrm>
          <a:prstGeom prst="round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0">
                <a:solidFill>
                  <a:srgbClr val="FFFFFF"/>
                </a:solidFill>
              </a:rPr>
              <a:t>DA2 (stby)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45920" y="1920240"/>
            <a:ext cx="365760" cy="640080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217920" y="822960"/>
            <a:ext cx="5669280" cy="2834640"/>
          </a:xfrm>
          <a:prstGeom prst="rect">
            <a:avLst/>
          </a:prstGeom>
          <a:solidFill>
            <a:srgbClr val="FFF8F0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6C00"/>
                </a:solidFill>
              </a:rPr>
              <a:t>Single Link Failure (&lt; 1 sec)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371600"/>
            <a:ext cx="1188720" cy="5486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Dallas DC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1097280" cy="5486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DA7 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286000"/>
            <a:ext cx="109728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DA2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28800"/>
            <a:ext cx="1828800" cy="5486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GCP us-south1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80960" y="1645920"/>
            <a:ext cx="365760" cy="0"/>
          </a:xfrm>
          <a:prstGeom prst="line">
            <a:avLst/>
          </a:prstGeom>
          <a:ln w="25400">
            <a:solidFill>
              <a:srgbClr val="DC3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1920240"/>
            <a:ext cx="365760" cy="64008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144000" y="2103120"/>
            <a:ext cx="548640" cy="45720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82880" y="3840480"/>
            <a:ext cx="5669280" cy="2834640"/>
          </a:xfrm>
          <a:prstGeom prst="rect">
            <a:avLst/>
          </a:prstGeom>
          <a:solidFill>
            <a:srgbClr val="FFF0F0"/>
          </a:solidFill>
          <a:ln w="1905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Metro Failure (&lt; 30 sec)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1188720" cy="5486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Dallas 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4572000"/>
            <a:ext cx="731520" cy="45720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FFFFFF"/>
                </a:solidFill>
              </a:rPr>
              <a:t>WAN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389120"/>
            <a:ext cx="1188720" cy="5486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Phoenix DC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389120"/>
            <a:ext cx="73152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PH1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0" y="4389120"/>
            <a:ext cx="640080" cy="54864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645920" y="4663440"/>
            <a:ext cx="274320" cy="91440"/>
          </a:xfrm>
          <a:prstGeom prst="line">
            <a:avLst/>
          </a:prstGeom>
          <a:ln w="1905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51760" y="4663440"/>
            <a:ext cx="182880" cy="9144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23360" y="4663440"/>
            <a:ext cx="274320" cy="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29200" y="4663440"/>
            <a:ext cx="91440" cy="0"/>
          </a:xfrm>
          <a:prstGeom prst="line">
            <a:avLst/>
          </a:prstGeom>
          <a:ln w="2540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5120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4A4A4A"/>
                </a:solidFill>
              </a:rPr>
              <a:t>Dallas DC → WAN → Phoenix DC → PH1 → GCP us-central1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40480"/>
            <a:ext cx="5669280" cy="2834640"/>
          </a:xfrm>
          <a:prstGeom prst="rect">
            <a:avLst/>
          </a:prstGeom>
          <a:solidFill>
            <a:srgbClr val="FFF0F0"/>
          </a:solidFill>
          <a:ln w="1905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931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GCP Region Failure (&lt; 30 sec)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389120"/>
            <a:ext cx="1188720" cy="5486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Dallas DC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4389120"/>
            <a:ext cx="914400" cy="548640"/>
          </a:xfrm>
          <a:prstGeom prst="round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DA7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26880" y="4389120"/>
            <a:ext cx="1828800" cy="5486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us-south1 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26880" y="5303520"/>
            <a:ext cx="1828800" cy="548640"/>
          </a:xfrm>
          <a:prstGeom prst="round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us-central1 ✓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80960" y="4663440"/>
            <a:ext cx="365760" cy="0"/>
          </a:xfrm>
          <a:prstGeom prst="line">
            <a:avLst/>
          </a:prstGeom>
          <a:ln w="1905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61120" y="4663440"/>
            <a:ext cx="365760" cy="0"/>
          </a:xfrm>
          <a:prstGeom prst="line">
            <a:avLst/>
          </a:prstGeom>
          <a:ln w="25400">
            <a:solidFill>
              <a:srgbClr val="DC3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961120" y="4663440"/>
            <a:ext cx="365760" cy="914400"/>
          </a:xfrm>
          <a:prstGeom prst="line">
            <a:avLst/>
          </a:prstGeom>
          <a:ln w="31750">
            <a:solidFill>
              <a:srgbClr val="28A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0" y="5943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8A745"/>
                </a:solidFill>
              </a:rPr>
              <a:t>Traffic redirects to GCP us-central1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